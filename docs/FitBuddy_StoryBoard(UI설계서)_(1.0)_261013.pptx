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2QwM6TKbMhytSBg5NmZaJYfuz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7EFB9D-16A4-40A0-89BA-9A8ADA471282}">
  <a:tblStyle styleId="{707EFB9D-16A4-40A0-89BA-9A8ADA4712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>
  <p:cSld name="1_빈 화면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30"/>
          <p:cNvGraphicFramePr/>
          <p:nvPr/>
        </p:nvGraphicFramePr>
        <p:xfrm>
          <a:off x="29490" y="25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7650"/>
                <a:gridCol w="1080250"/>
                <a:gridCol w="5473325"/>
                <a:gridCol w="1080250"/>
                <a:gridCol w="19444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화면명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ko-KR" sz="1000" u="none" cap="none" strike="noStrike"/>
                        <a:t>Screen ID</a:t>
                      </a:r>
                      <a:endParaRPr b="1"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 경로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Page</a:t>
                      </a:r>
                      <a:endParaRPr b="1"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" name="Google Shape;21;p30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30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30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2_제목 및 내용 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7" name="Google Shape;27;p29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29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9" name="Google Shape;29;p29"/>
          <p:cNvGraphicFramePr/>
          <p:nvPr/>
        </p:nvGraphicFramePr>
        <p:xfrm>
          <a:off x="29490" y="25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7650"/>
                <a:gridCol w="1080250"/>
                <a:gridCol w="5473325"/>
                <a:gridCol w="1080250"/>
                <a:gridCol w="19444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화면명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ko-KR" sz="1000" u="none" cap="none" strike="noStrike"/>
                        <a:t>Screen ID</a:t>
                      </a:r>
                      <a:endParaRPr b="1"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 경로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Page</a:t>
                      </a:r>
                      <a:endParaRPr b="1"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" name="Google Shape;30;p29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10199809" y="15117"/>
            <a:ext cx="1945342" cy="246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본문_1">
  <p:cSld name="5_본문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334434" y="1028733"/>
            <a:ext cx="8305849" cy="5424603"/>
          </a:xfrm>
          <a:prstGeom prst="rect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25"/>
          <p:cNvSpPr/>
          <p:nvPr/>
        </p:nvSpPr>
        <p:spPr>
          <a:xfrm>
            <a:off x="5771072" y="6501345"/>
            <a:ext cx="649856" cy="2790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ko-KR" sz="1333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333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333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폰트, 그래픽, 로고, 그래픽 디자인이(가) 표시된 사진&#10;&#10;자동 생성된 설명" id="35" name="Google Shape;3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501341"/>
            <a:ext cx="864080" cy="3434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/>
          <p:nvPr/>
        </p:nvSpPr>
        <p:spPr>
          <a:xfrm>
            <a:off x="0" y="1"/>
            <a:ext cx="12192000" cy="548217"/>
          </a:xfrm>
          <a:prstGeom prst="rect">
            <a:avLst/>
          </a:prstGeom>
          <a:solidFill>
            <a:srgbClr val="2E75B5">
              <a:alpha val="80000"/>
            </a:srgbClr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8688287" y="1028733"/>
            <a:ext cx="3169279" cy="5424603"/>
          </a:xfrm>
          <a:prstGeom prst="rect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orient="horz" pos="3072">
          <p15:clr>
            <a:srgbClr val="FBAE40"/>
          </p15:clr>
        </p15:guide>
        <p15:guide id="5" pos="158">
          <p15:clr>
            <a:srgbClr val="FBAE40"/>
          </p15:clr>
        </p15:guide>
        <p15:guide id="6" pos="56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10199662" y="261442"/>
            <a:ext cx="1943909" cy="253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6" name="Google Shape;46;p33"/>
          <p:cNvSpPr/>
          <p:nvPr/>
        </p:nvSpPr>
        <p:spPr>
          <a:xfrm>
            <a:off x="9118363" y="523836"/>
            <a:ext cx="3025208" cy="628716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p33"/>
          <p:cNvSpPr/>
          <p:nvPr/>
        </p:nvSpPr>
        <p:spPr>
          <a:xfrm>
            <a:off x="9119542" y="514783"/>
            <a:ext cx="3032575" cy="288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8" name="Google Shape;48;p33"/>
          <p:cNvGraphicFramePr/>
          <p:nvPr/>
        </p:nvGraphicFramePr>
        <p:xfrm>
          <a:off x="29486" y="25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7325"/>
                <a:gridCol w="1080125"/>
                <a:gridCol w="5472600"/>
                <a:gridCol w="1080125"/>
                <a:gridCol w="1944225"/>
              </a:tblGrid>
              <a:tr h="2387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화면명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ko-KR" sz="1000" u="none" cap="none" strike="noStrike"/>
                        <a:t>Screen ID</a:t>
                      </a:r>
                      <a:endParaRPr b="1"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화면 경로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Page</a:t>
                      </a:r>
                      <a:endParaRPr b="1"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p33"/>
          <p:cNvSpPr/>
          <p:nvPr/>
        </p:nvSpPr>
        <p:spPr>
          <a:xfrm>
            <a:off x="29486" y="621482"/>
            <a:ext cx="9018048" cy="618951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2205" y="0"/>
            <a:ext cx="12187592" cy="117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206" y="0"/>
            <a:ext cx="9477387" cy="11739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782320" y="1845191"/>
            <a:ext cx="10627361" cy="170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Malgun Gothic"/>
              <a:buNone/>
            </a:pPr>
            <a:r>
              <a:rPr b="1" i="0" lang="ko-KR" sz="16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FitBuddy 시스템 구축</a:t>
            </a:r>
            <a:br>
              <a:rPr b="1" i="0" lang="ko-KR" sz="16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ko-KR" sz="3799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FitBuddy Project Story Board</a:t>
            </a:r>
            <a:endParaRPr b="1" i="0" sz="3799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" name="Google Shape;69;p2"/>
          <p:cNvGraphicFramePr/>
          <p:nvPr/>
        </p:nvGraphicFramePr>
        <p:xfrm>
          <a:off x="8909719" y="5540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935875"/>
                <a:gridCol w="1930950"/>
              </a:tblGrid>
              <a:tr h="27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Version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121875" marL="1218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2026-10-13</a:t>
                      </a:r>
                      <a:endParaRPr sz="1400" u="none" cap="none" strike="noStrike"/>
                    </a:p>
                  </a:txBody>
                  <a:tcPr marT="45725" marB="45725" marR="121875" marL="1218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차명실</a:t>
                      </a:r>
                      <a:endParaRPr sz="1400" u="none" cap="none" strike="noStrike"/>
                    </a:p>
                  </a:txBody>
                  <a:tcPr marT="45725" marB="45725" marR="121875" marL="1218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0" name="Google Shape;70;p2"/>
          <p:cNvCxnSpPr/>
          <p:nvPr/>
        </p:nvCxnSpPr>
        <p:spPr>
          <a:xfrm>
            <a:off x="516436" y="3429000"/>
            <a:ext cx="11157542" cy="0"/>
          </a:xfrm>
          <a:prstGeom prst="straightConnector1">
            <a:avLst/>
          </a:prstGeom>
          <a:noFill/>
          <a:ln cap="flat" cmpd="thinThick" w="57150">
            <a:solidFill>
              <a:srgbClr val="31859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8666481" y="63135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3"/>
          <p:cNvGraphicFramePr/>
          <p:nvPr/>
        </p:nvGraphicFramePr>
        <p:xfrm>
          <a:off x="910534" y="837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914075"/>
                <a:gridCol w="7085250"/>
                <a:gridCol w="1346975"/>
                <a:gridCol w="1024650"/>
              </a:tblGrid>
              <a:tr h="31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Vision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작업 내용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 스토리보드 작성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2026.10.13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차명실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커스터마이징 UI 설계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2026.09.28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차명실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Layout 초안 작성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2026.09.21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차명실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3"/>
          <p:cNvSpPr txBox="1"/>
          <p:nvPr/>
        </p:nvSpPr>
        <p:spPr>
          <a:xfrm>
            <a:off x="120719" y="190209"/>
            <a:ext cx="3491692" cy="503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4400" lIns="108825" spcFirstLastPara="1" rIns="108825" wrap="square" tIns="5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Malgun Gothic"/>
              <a:buNone/>
            </a:pPr>
            <a:r>
              <a:rPr b="1" i="0" lang="ko-KR" sz="1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 History</a:t>
            </a:r>
            <a:endParaRPr b="1" i="0" sz="1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" name="Google Shape;78;p3"/>
          <p:cNvCxnSpPr/>
          <p:nvPr/>
        </p:nvCxnSpPr>
        <p:spPr>
          <a:xfrm>
            <a:off x="221655" y="582924"/>
            <a:ext cx="116767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"/>
            <a:headEnd len="sm" w="sm" type="none"/>
            <a:tailEnd len="sm" w="sm" type="none"/>
          </a:ln>
        </p:spPr>
      </p:cxnSp>
      <p:grpSp>
        <p:nvGrpSpPr>
          <p:cNvPr id="79" name="Google Shape;79;p3"/>
          <p:cNvGrpSpPr/>
          <p:nvPr/>
        </p:nvGrpSpPr>
        <p:grpSpPr>
          <a:xfrm>
            <a:off x="2205" y="0"/>
            <a:ext cx="12187592" cy="66660"/>
            <a:chOff x="0" y="0"/>
            <a:chExt cx="12190413" cy="117426"/>
          </a:xfrm>
        </p:grpSpPr>
        <p:sp>
          <p:nvSpPr>
            <p:cNvPr id="80" name="Google Shape;80;p3"/>
            <p:cNvSpPr/>
            <p:nvPr/>
          </p:nvSpPr>
          <p:spPr>
            <a:xfrm>
              <a:off x="0" y="0"/>
              <a:ext cx="12190413" cy="1174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" y="0"/>
              <a:ext cx="9479581" cy="117426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2" name="Google Shape;82;p3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ko-KR" sz="10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89" name="Google Shape;89;p14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90" name="Google Shape;90;p14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2" name="Google Shape;92;p14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ko-KR" sz="2799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흐름도</a:t>
            </a:r>
            <a:endParaRPr b="1" i="0" sz="2799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ko-KR" sz="10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270709" y="4486576"/>
            <a:ext cx="8782943" cy="14398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04898" y="1536007"/>
            <a:ext cx="8782943" cy="302363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831994" y="1603372"/>
            <a:ext cx="1515984" cy="2879653"/>
          </a:xfrm>
          <a:prstGeom prst="roundRect">
            <a:avLst>
              <a:gd fmla="val 16667" name="adj"/>
            </a:avLst>
          </a:prstGeom>
          <a:solidFill>
            <a:srgbClr val="D1E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92710" y="1485234"/>
            <a:ext cx="639540" cy="302363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Menu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92710" y="4508870"/>
            <a:ext cx="639540" cy="14398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92710" y="5948697"/>
            <a:ext cx="8782943" cy="65630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92710" y="5948697"/>
            <a:ext cx="639540" cy="6479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서비스 흐름도</a:t>
                      </a:r>
                      <a:endParaRPr b="1" sz="10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u="none" cap="none" strike="noStrike"/>
                        <a:t>서비스 흐름도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FitBuddy &gt; 전체 서비스 흐름도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" name="Google Shape;110;p15"/>
          <p:cNvGraphicFramePr/>
          <p:nvPr/>
        </p:nvGraphicFramePr>
        <p:xfrm>
          <a:off x="9177566" y="862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213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800" u="none" cap="none" strike="noStrike"/>
                        <a:t>진입 :</a:t>
                      </a:r>
                      <a:r>
                        <a:rPr lang="ko-KR" sz="800" u="none" cap="none" strike="noStrike"/>
                        <a:t> 신규 사용자는 회원가입 후 맞춤 설문을 통해 자신의 운동 목표와 시간을 설정하여 개인화된 온보딩을 완료합니다</a:t>
                      </a:r>
                      <a:endParaRPr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cap="none" strike="noStrike"/>
                        <a:t>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800" u="none" cap="none" strike="noStrike"/>
                        <a:t>현황 파악:</a:t>
                      </a:r>
                      <a:r>
                        <a:rPr lang="ko-KR" sz="800" u="none" cap="none" strike="noStrike"/>
                        <a:t> 홈 대시보드에서 오늘의 건강 요약(걸음수, 칼로리 등)과 미션 진행 상태를 한눈에 파악합니다. (걸음수 데이터 API 연계)</a:t>
                      </a:r>
                      <a:endParaRPr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800" u="none" cap="none" strike="noStrike"/>
                        <a:t>미션 수행 및 보상:</a:t>
                      </a:r>
                      <a:r>
                        <a:rPr lang="ko-KR" sz="800" u="none" cap="none" strike="noStrike"/>
                        <a:t> 맞춤 미션을 수행하고 완료 조건 달성 시, 시스템을 통해 FitPoint 보상이 즉시 지급됩니다.</a:t>
                      </a:r>
                      <a:endParaRPr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800" u="none" cap="none" strike="noStrike"/>
                        <a:t>보상 활용:</a:t>
                      </a:r>
                      <a:r>
                        <a:rPr lang="ko-KR" sz="800" u="none" cap="none" strike="noStrike"/>
                        <a:t> 획득한 포인트로 상점에서 아이템을 구매하고 장착하여 캐릭터를 커스터마이징하며, 마이페이지에서 앱 설정을 관리합니다.</a:t>
                      </a:r>
                      <a:endParaRPr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15"/>
          <p:cNvSpPr txBox="1"/>
          <p:nvPr/>
        </p:nvSpPr>
        <p:spPr>
          <a:xfrm>
            <a:off x="10199507" y="261382"/>
            <a:ext cx="1943459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400" lIns="108825" spcFirstLastPara="1" rIns="108825" wrap="square" tIns="5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463836" y="1557225"/>
            <a:ext cx="1515984" cy="2879653"/>
          </a:xfrm>
          <a:prstGeom prst="roundRect">
            <a:avLst>
              <a:gd fmla="val 16667" name="adj"/>
            </a:avLst>
          </a:prstGeom>
          <a:solidFill>
            <a:srgbClr val="D1E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264648" y="1557226"/>
            <a:ext cx="1515984" cy="2879653"/>
          </a:xfrm>
          <a:prstGeom prst="roundRect">
            <a:avLst>
              <a:gd fmla="val 16667" name="adj"/>
            </a:avLst>
          </a:prstGeom>
          <a:solidFill>
            <a:srgbClr val="B9E6FF">
              <a:alpha val="6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655296" y="1557226"/>
            <a:ext cx="1515984" cy="2879653"/>
          </a:xfrm>
          <a:prstGeom prst="roundRect">
            <a:avLst>
              <a:gd fmla="val 16667" name="adj"/>
            </a:avLst>
          </a:prstGeom>
          <a:solidFill>
            <a:srgbClr val="B9E6FF">
              <a:alpha val="6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3578" y="1557225"/>
            <a:ext cx="1655801" cy="4319480"/>
          </a:xfrm>
          <a:prstGeom prst="roundRect">
            <a:avLst>
              <a:gd fmla="val 16667" name="adj"/>
            </a:avLst>
          </a:prstGeom>
          <a:solidFill>
            <a:srgbClr val="B9E6FF">
              <a:alpha val="6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831994" y="980771"/>
            <a:ext cx="3255847" cy="29680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5975" spcFirstLastPara="1" rIns="46787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활용 및 관리 (Shop &amp; Profile)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193223" y="198917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186004" y="2682189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193223" y="3263846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 설문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644801" y="993043"/>
            <a:ext cx="2277860" cy="2867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5975" spcFirstLastPara="1" rIns="2879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목표수행(Mission/Reward)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054884" y="981294"/>
            <a:ext cx="2325470" cy="324347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1975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현황 파악 (Dashboard)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40633" y="981295"/>
            <a:ext cx="1799783" cy="327541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5175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진입 (Auth )</a:t>
            </a:r>
            <a:endParaRPr b="1" i="0" sz="800" u="none" cap="none" strike="noStrik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857780" y="198917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476195" y="198917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476195" y="265721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상세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476195" y="3325251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완료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084001" y="198917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상점 메인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84001" y="2626510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구매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84001" y="3263846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꾸미기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679809" y="1989173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정보 확인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165956" y="5264561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계정 DB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277623" y="4920384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보상(FitPoint) 트랜잭션 관리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165961" y="4104970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003248" y="1629208"/>
            <a:ext cx="871543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홈   대시보드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4728165" y="1629217"/>
            <a:ext cx="646352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미션 수행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251076" y="1629217"/>
            <a:ext cx="716697" cy="215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상점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895784" y="1629217"/>
            <a:ext cx="91660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15"/>
          <p:cNvCxnSpPr/>
          <p:nvPr/>
        </p:nvCxnSpPr>
        <p:spPr>
          <a:xfrm rot="10800000">
            <a:off x="192711" y="1485234"/>
            <a:ext cx="614135" cy="35995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9" name="Google Shape;139;p15"/>
          <p:cNvSpPr txBox="1"/>
          <p:nvPr/>
        </p:nvSpPr>
        <p:spPr>
          <a:xfrm>
            <a:off x="192710" y="1629217"/>
            <a:ext cx="389760" cy="215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80676" y="1485234"/>
            <a:ext cx="389760" cy="215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92710" y="1485234"/>
            <a:ext cx="639540" cy="3599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ot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3575928" y="5474397"/>
            <a:ext cx="1114519" cy="265442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걸음수 데이터 연동 API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3" name="Google Shape;143;p15"/>
          <p:cNvCxnSpPr/>
          <p:nvPr/>
        </p:nvCxnSpPr>
        <p:spPr>
          <a:xfrm>
            <a:off x="2579545" y="1507359"/>
            <a:ext cx="24933" cy="50892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4224225" y="1507359"/>
            <a:ext cx="0" cy="50892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5" name="Google Shape;145;p15"/>
          <p:cNvCxnSpPr/>
          <p:nvPr/>
        </p:nvCxnSpPr>
        <p:spPr>
          <a:xfrm flipH="1">
            <a:off x="5808035" y="1485234"/>
            <a:ext cx="9523" cy="5111385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6" name="Google Shape;146;p15"/>
          <p:cNvCxnSpPr/>
          <p:nvPr/>
        </p:nvCxnSpPr>
        <p:spPr>
          <a:xfrm>
            <a:off x="7438902" y="1485234"/>
            <a:ext cx="0" cy="5111385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>
            <a:stCxn id="133" idx="3"/>
            <a:endCxn id="123" idx="1"/>
          </p:cNvCxnSpPr>
          <p:nvPr/>
        </p:nvCxnSpPr>
        <p:spPr>
          <a:xfrm flipH="1" rot="10800000">
            <a:off x="2245831" y="2161302"/>
            <a:ext cx="612000" cy="2115900"/>
          </a:xfrm>
          <a:prstGeom prst="bentConnector3">
            <a:avLst>
              <a:gd fmla="val 49996" name="adj1"/>
            </a:avLst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8" name="Google Shape;148;p15"/>
          <p:cNvCxnSpPr>
            <a:stCxn id="117" idx="2"/>
            <a:endCxn id="118" idx="0"/>
          </p:cNvCxnSpPr>
          <p:nvPr/>
        </p:nvCxnSpPr>
        <p:spPr>
          <a:xfrm flipH="1">
            <a:off x="1725958" y="2333637"/>
            <a:ext cx="7200" cy="3486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9" name="Google Shape;149;p15"/>
          <p:cNvCxnSpPr>
            <a:stCxn id="119" idx="2"/>
            <a:endCxn id="133" idx="0"/>
          </p:cNvCxnSpPr>
          <p:nvPr/>
        </p:nvCxnSpPr>
        <p:spPr>
          <a:xfrm flipH="1">
            <a:off x="1705858" y="3608310"/>
            <a:ext cx="27300" cy="4968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0" name="Google Shape;150;p15"/>
          <p:cNvCxnSpPr>
            <a:stCxn id="142" idx="1"/>
            <a:endCxn id="123" idx="1"/>
          </p:cNvCxnSpPr>
          <p:nvPr/>
        </p:nvCxnSpPr>
        <p:spPr>
          <a:xfrm rot="10800000">
            <a:off x="2857728" y="2161318"/>
            <a:ext cx="718200" cy="3445800"/>
          </a:xfrm>
          <a:prstGeom prst="bentConnector3">
            <a:avLst>
              <a:gd fmla="val 131822" name="adj1"/>
            </a:avLst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1" name="Google Shape;151;p15"/>
          <p:cNvCxnSpPr/>
          <p:nvPr/>
        </p:nvCxnSpPr>
        <p:spPr>
          <a:xfrm>
            <a:off x="3978438" y="2151446"/>
            <a:ext cx="456883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2" name="Google Shape;152;p15"/>
          <p:cNvCxnSpPr>
            <a:stCxn id="124" idx="3"/>
            <a:endCxn id="126" idx="3"/>
          </p:cNvCxnSpPr>
          <p:nvPr/>
        </p:nvCxnSpPr>
        <p:spPr>
          <a:xfrm>
            <a:off x="5556065" y="2161405"/>
            <a:ext cx="600" cy="1336200"/>
          </a:xfrm>
          <a:prstGeom prst="bentConnector3">
            <a:avLst>
              <a:gd fmla="val 28467944" name="adj1"/>
            </a:avLst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53" name="Google Shape;153;p15"/>
          <p:cNvSpPr txBox="1"/>
          <p:nvPr/>
        </p:nvSpPr>
        <p:spPr>
          <a:xfrm>
            <a:off x="10199507" y="16867"/>
            <a:ext cx="1943459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400" lIns="108825" spcFirstLastPara="1" rIns="108825" wrap="square" tIns="5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210856" y="1657440"/>
            <a:ext cx="1298288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및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7645160" y="6211921"/>
            <a:ext cx="1114519" cy="265442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푸시 알림 서버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6" name="Google Shape;156;p15"/>
          <p:cNvCxnSpPr/>
          <p:nvPr/>
        </p:nvCxnSpPr>
        <p:spPr>
          <a:xfrm>
            <a:off x="1740524" y="2997051"/>
            <a:ext cx="0" cy="2928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7" name="Google Shape;157;p15"/>
          <p:cNvCxnSpPr/>
          <p:nvPr/>
        </p:nvCxnSpPr>
        <p:spPr>
          <a:xfrm>
            <a:off x="2290213" y="2118079"/>
            <a:ext cx="537000" cy="12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8" name="Google Shape;158;p15"/>
          <p:cNvCxnSpPr/>
          <p:nvPr/>
        </p:nvCxnSpPr>
        <p:spPr>
          <a:xfrm flipH="1" rot="10800000">
            <a:off x="945000" y="2822700"/>
            <a:ext cx="283500" cy="258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9" name="Google Shape;159;p15"/>
          <p:cNvCxnSpPr/>
          <p:nvPr/>
        </p:nvCxnSpPr>
        <p:spPr>
          <a:xfrm>
            <a:off x="5425592" y="3903928"/>
            <a:ext cx="0" cy="11424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0" name="Google Shape;160;p15"/>
          <p:cNvCxnSpPr/>
          <p:nvPr/>
        </p:nvCxnSpPr>
        <p:spPr>
          <a:xfrm flipH="1">
            <a:off x="4998427" y="2298825"/>
            <a:ext cx="9946" cy="327685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1" name="Google Shape;161;p15"/>
          <p:cNvCxnSpPr/>
          <p:nvPr/>
        </p:nvCxnSpPr>
        <p:spPr>
          <a:xfrm>
            <a:off x="5028101" y="2981382"/>
            <a:ext cx="1378" cy="396655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2" name="Google Shape;162;p15"/>
          <p:cNvCxnSpPr/>
          <p:nvPr/>
        </p:nvCxnSpPr>
        <p:spPr>
          <a:xfrm flipH="1">
            <a:off x="6595238" y="2276073"/>
            <a:ext cx="10995" cy="380485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3" name="Google Shape;163;p15"/>
          <p:cNvCxnSpPr>
            <a:endCxn id="129" idx="0"/>
          </p:cNvCxnSpPr>
          <p:nvPr/>
        </p:nvCxnSpPr>
        <p:spPr>
          <a:xfrm flipH="1">
            <a:off x="6623936" y="2936846"/>
            <a:ext cx="9900" cy="3270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7210460" y="2145955"/>
            <a:ext cx="456883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65" name="Google Shape;165;p15"/>
          <p:cNvCxnSpPr>
            <a:stCxn id="131" idx="1"/>
            <a:endCxn id="117" idx="1"/>
          </p:cNvCxnSpPr>
          <p:nvPr/>
        </p:nvCxnSpPr>
        <p:spPr>
          <a:xfrm flipH="1" rot="10800000">
            <a:off x="1165956" y="2161393"/>
            <a:ext cx="27300" cy="3275400"/>
          </a:xfrm>
          <a:prstGeom prst="bentConnector3">
            <a:avLst>
              <a:gd fmla="val -87225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" name="Google Shape;166;p15"/>
          <p:cNvCxnSpPr>
            <a:endCxn id="125" idx="1"/>
          </p:cNvCxnSpPr>
          <p:nvPr/>
        </p:nvCxnSpPr>
        <p:spPr>
          <a:xfrm rot="-5400000">
            <a:off x="2906445" y="3901495"/>
            <a:ext cx="2641800" cy="49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15"/>
          <p:cNvCxnSpPr>
            <a:stCxn id="168" idx="3"/>
            <a:endCxn id="127" idx="1"/>
          </p:cNvCxnSpPr>
          <p:nvPr/>
        </p:nvCxnSpPr>
        <p:spPr>
          <a:xfrm flipH="1" rot="10800000">
            <a:off x="5556065" y="2161446"/>
            <a:ext cx="528000" cy="19167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15"/>
          <p:cNvCxnSpPr>
            <a:stCxn id="132" idx="3"/>
            <a:endCxn id="128" idx="3"/>
          </p:cNvCxnSpPr>
          <p:nvPr/>
        </p:nvCxnSpPr>
        <p:spPr>
          <a:xfrm flipH="1" rot="10800000">
            <a:off x="6357493" y="2798816"/>
            <a:ext cx="806400" cy="2293800"/>
          </a:xfrm>
          <a:prstGeom prst="bentConnector3">
            <a:avLst>
              <a:gd fmla="val 12834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8221814" y="2362964"/>
            <a:ext cx="0" cy="381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7071402" y="2213980"/>
            <a:ext cx="600" cy="1336200"/>
          </a:xfrm>
          <a:prstGeom prst="bentConnector3">
            <a:avLst>
              <a:gd fmla="val 28467944" name="adj1"/>
            </a:avLst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68" name="Google Shape;168;p15"/>
          <p:cNvSpPr/>
          <p:nvPr/>
        </p:nvSpPr>
        <p:spPr>
          <a:xfrm>
            <a:off x="4476195" y="3905914"/>
            <a:ext cx="1079870" cy="344464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3F3F3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보상 팝업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2" name="Google Shape;172;p15"/>
          <p:cNvCxnSpPr>
            <a:stCxn id="126" idx="2"/>
            <a:endCxn id="168" idx="0"/>
          </p:cNvCxnSpPr>
          <p:nvPr/>
        </p:nvCxnSpPr>
        <p:spPr>
          <a:xfrm>
            <a:off x="5016130" y="3669715"/>
            <a:ext cx="0" cy="2361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6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178" name="Google Shape;178;p16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179" name="Google Shape;179;p16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81" name="Google Shape;181;p16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3" name="Google Shape;183;p16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ko-KR" sz="2799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ko-KR" sz="10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/>
        </p:nvSpPr>
        <p:spPr>
          <a:xfrm>
            <a:off x="3252182" y="1413570"/>
            <a:ext cx="586660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FitBuddy 서비스</a:t>
            </a: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메뉴구성을 한눈에 확인 할 수 있습니다.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180956" y="658934"/>
            <a:ext cx="366044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FitBuddy IA</a:t>
            </a:r>
            <a:endParaRPr b="1" i="0" sz="4000" u="none" cap="none" strike="noStrike">
              <a:solidFill>
                <a:srgbClr val="2545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17"/>
          <p:cNvGrpSpPr/>
          <p:nvPr/>
        </p:nvGrpSpPr>
        <p:grpSpPr>
          <a:xfrm>
            <a:off x="334839" y="1907757"/>
            <a:ext cx="3795555" cy="1495505"/>
            <a:chOff x="-1003676" y="1255848"/>
            <a:chExt cx="3795555" cy="1495505"/>
          </a:xfrm>
        </p:grpSpPr>
        <p:sp>
          <p:nvSpPr>
            <p:cNvPr id="193" name="Google Shape;193;p17"/>
            <p:cNvSpPr/>
            <p:nvPr/>
          </p:nvSpPr>
          <p:spPr>
            <a:xfrm>
              <a:off x="-680057" y="2014743"/>
              <a:ext cx="1602748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로그인 (SCR-AUT-01)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104641" y="2052978"/>
              <a:ext cx="1602747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회원가입 폼 (SCR-REG-01)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113782" y="2474217"/>
              <a:ext cx="1602747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맞춤 설문 - 운동 목표 (SCR-REG-02)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1003676" y="1255848"/>
              <a:ext cx="3795555" cy="31496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2E75B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인증</a:t>
              </a:r>
              <a:endPara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97" name="Google Shape;197;p17"/>
            <p:cNvCxnSpPr>
              <a:endCxn id="193" idx="1"/>
            </p:cNvCxnSpPr>
            <p:nvPr/>
          </p:nvCxnSpPr>
          <p:spPr>
            <a:xfrm flipH="1" rot="-5400000">
              <a:off x="-919757" y="1913611"/>
              <a:ext cx="345900" cy="133500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cxnSp>
          <p:nvCxnSpPr>
            <p:cNvPr id="198" name="Google Shape;198;p17"/>
            <p:cNvCxnSpPr>
              <a:endCxn id="194" idx="1"/>
            </p:cNvCxnSpPr>
            <p:nvPr/>
          </p:nvCxnSpPr>
          <p:spPr>
            <a:xfrm flipH="1" rot="-5400000">
              <a:off x="683291" y="1770196"/>
              <a:ext cx="709200" cy="133500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cxnSp>
          <p:nvCxnSpPr>
            <p:cNvPr id="199" name="Google Shape;199;p17"/>
            <p:cNvCxnSpPr>
              <a:endCxn id="195" idx="1"/>
            </p:cNvCxnSpPr>
            <p:nvPr/>
          </p:nvCxnSpPr>
          <p:spPr>
            <a:xfrm flipH="1" rot="-5400000">
              <a:off x="510632" y="2009635"/>
              <a:ext cx="1072800" cy="133500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00" name="Google Shape;200;p17"/>
            <p:cNvSpPr/>
            <p:nvPr/>
          </p:nvSpPr>
          <p:spPr>
            <a:xfrm>
              <a:off x="-808800" y="1656759"/>
              <a:ext cx="1535177" cy="27713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로그인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4520605" y="1925927"/>
            <a:ext cx="1535178" cy="1006585"/>
            <a:chOff x="2503320" y="1373432"/>
            <a:chExt cx="1535178" cy="1006585"/>
          </a:xfrm>
        </p:grpSpPr>
        <p:sp>
          <p:nvSpPr>
            <p:cNvPr id="202" name="Google Shape;202;p17"/>
            <p:cNvSpPr/>
            <p:nvPr/>
          </p:nvSpPr>
          <p:spPr>
            <a:xfrm>
              <a:off x="2632517" y="2102881"/>
              <a:ext cx="1385616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홈 대시보드 메인(SCR-HOM-01)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503320" y="1373432"/>
              <a:ext cx="1535178" cy="30876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2E75B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04" name="Google Shape;204;p17"/>
            <p:cNvCxnSpPr/>
            <p:nvPr/>
          </p:nvCxnSpPr>
          <p:spPr>
            <a:xfrm flipH="1" rot="-5400000">
              <a:off x="2348428" y="1957360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05" name="Google Shape;205;p17"/>
            <p:cNvSpPr/>
            <p:nvPr/>
          </p:nvSpPr>
          <p:spPr>
            <a:xfrm>
              <a:off x="2503321" y="1745614"/>
              <a:ext cx="1514812" cy="27713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대시보드 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7"/>
          <p:cNvSpPr/>
          <p:nvPr/>
        </p:nvSpPr>
        <p:spPr>
          <a:xfrm>
            <a:off x="2385547" y="2295559"/>
            <a:ext cx="1535177" cy="277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회원가입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2450808" y="3508986"/>
            <a:ext cx="1602748" cy="27713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맞춤 설문 - 하루 운동 시간 (SCR-REG-03)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2469140" y="3891846"/>
            <a:ext cx="1602748" cy="27713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맞춤 설문 완료 (SCR-REG-04)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17"/>
          <p:cNvGrpSpPr/>
          <p:nvPr/>
        </p:nvGrpSpPr>
        <p:grpSpPr>
          <a:xfrm>
            <a:off x="6375850" y="1937197"/>
            <a:ext cx="1535178" cy="1743201"/>
            <a:chOff x="2503320" y="1373432"/>
            <a:chExt cx="1535178" cy="1743201"/>
          </a:xfrm>
        </p:grpSpPr>
        <p:sp>
          <p:nvSpPr>
            <p:cNvPr id="210" name="Google Shape;210;p17"/>
            <p:cNvSpPr/>
            <p:nvPr/>
          </p:nvSpPr>
          <p:spPr>
            <a:xfrm>
              <a:off x="2632517" y="2102881"/>
              <a:ext cx="1385616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맞춤 미션 목록 (SCR-MIS-01)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503320" y="1373432"/>
              <a:ext cx="1535178" cy="30876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2E75B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미션</a:t>
              </a:r>
              <a:endPara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12" name="Google Shape;212;p17"/>
            <p:cNvCxnSpPr/>
            <p:nvPr/>
          </p:nvCxnSpPr>
          <p:spPr>
            <a:xfrm flipH="1" rot="-5400000">
              <a:off x="2348428" y="1957360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13" name="Google Shape;213;p17"/>
            <p:cNvSpPr/>
            <p:nvPr/>
          </p:nvSpPr>
          <p:spPr>
            <a:xfrm>
              <a:off x="2503321" y="1745614"/>
              <a:ext cx="1514812" cy="27713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미션 관리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2632517" y="2471189"/>
              <a:ext cx="1385616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미션 상세 (SCR-MIS-02)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2632517" y="2839497"/>
              <a:ext cx="1385616" cy="2771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미션 완료 보상 모달 (SCR-MOD-01)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" name="Google Shape;216;p17"/>
            <p:cNvCxnSpPr/>
            <p:nvPr/>
          </p:nvCxnSpPr>
          <p:spPr>
            <a:xfrm flipH="1" rot="-5400000">
              <a:off x="2348428" y="2320673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cxnSp>
          <p:nvCxnSpPr>
            <p:cNvPr id="217" name="Google Shape;217;p17"/>
            <p:cNvCxnSpPr/>
            <p:nvPr/>
          </p:nvCxnSpPr>
          <p:spPr>
            <a:xfrm flipH="1" rot="-5400000">
              <a:off x="2348428" y="2690261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grpSp>
        <p:nvGrpSpPr>
          <p:cNvPr id="218" name="Google Shape;218;p17"/>
          <p:cNvGrpSpPr/>
          <p:nvPr/>
        </p:nvGrpSpPr>
        <p:grpSpPr>
          <a:xfrm>
            <a:off x="8078494" y="1937197"/>
            <a:ext cx="1535178" cy="1048404"/>
            <a:chOff x="2482955" y="1338273"/>
            <a:chExt cx="1535178" cy="1048404"/>
          </a:xfrm>
        </p:grpSpPr>
        <p:sp>
          <p:nvSpPr>
            <p:cNvPr id="219" name="Google Shape;219;p17"/>
            <p:cNvSpPr/>
            <p:nvPr/>
          </p:nvSpPr>
          <p:spPr>
            <a:xfrm>
              <a:off x="2632517" y="2102881"/>
              <a:ext cx="1385616" cy="283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상점 메인 뷰어 (SCR-SHP-01)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2482955" y="1338273"/>
              <a:ext cx="1535178" cy="30876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2E75B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상점</a:t>
              </a:r>
              <a:endPara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21" name="Google Shape;221;p17"/>
            <p:cNvCxnSpPr/>
            <p:nvPr/>
          </p:nvCxnSpPr>
          <p:spPr>
            <a:xfrm flipH="1" rot="-5400000">
              <a:off x="2348428" y="1957360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22" name="Google Shape;222;p17"/>
            <p:cNvSpPr/>
            <p:nvPr/>
          </p:nvSpPr>
          <p:spPr>
            <a:xfrm>
              <a:off x="2503321" y="1745614"/>
              <a:ext cx="1514812" cy="27713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꾸미기 상점 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7"/>
          <p:cNvGrpSpPr/>
          <p:nvPr/>
        </p:nvGrpSpPr>
        <p:grpSpPr>
          <a:xfrm>
            <a:off x="9873203" y="1923034"/>
            <a:ext cx="1535178" cy="1048404"/>
            <a:chOff x="2482955" y="1338273"/>
            <a:chExt cx="1535178" cy="1048404"/>
          </a:xfrm>
        </p:grpSpPr>
        <p:sp>
          <p:nvSpPr>
            <p:cNvPr id="224" name="Google Shape;224;p17"/>
            <p:cNvSpPr/>
            <p:nvPr/>
          </p:nvSpPr>
          <p:spPr>
            <a:xfrm>
              <a:off x="2632517" y="2102881"/>
              <a:ext cx="1385616" cy="283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마이페이지 메인 (SCR-MYP-01)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2482955" y="1338273"/>
              <a:ext cx="1535178" cy="30876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2E75B5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마이페이지</a:t>
              </a:r>
              <a:endPara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26" name="Google Shape;226;p17"/>
            <p:cNvCxnSpPr/>
            <p:nvPr/>
          </p:nvCxnSpPr>
          <p:spPr>
            <a:xfrm flipH="1" rot="-5400000">
              <a:off x="2348428" y="1957360"/>
              <a:ext cx="463527" cy="104649"/>
            </a:xfrm>
            <a:prstGeom prst="bentConnector2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27" name="Google Shape;227;p17"/>
            <p:cNvSpPr/>
            <p:nvPr/>
          </p:nvSpPr>
          <p:spPr>
            <a:xfrm>
              <a:off x="2503321" y="1745614"/>
              <a:ext cx="1514812" cy="27713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마이페이지 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0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233" name="Google Shape;233;p10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234" name="Google Shape;234;p10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5" name="Google Shape;235;p10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36" name="Google Shape;236;p10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8" name="Google Shape;238;p10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ko-KR" sz="2799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</a:t>
            </a:r>
            <a:endParaRPr b="1" i="0" sz="2799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ko-KR" sz="10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인증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로그인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SCR-AUT-01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인증 &gt; 로그인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18"/>
          <p:cNvGraphicFramePr/>
          <p:nvPr/>
        </p:nvGraphicFramePr>
        <p:xfrm>
          <a:off x="9153495" y="838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클릭 시 로그인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형식 정규식 체크 및 오류 시 하단에 에러 문구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마스킹 처리 및 눈 모양 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클릭 시 계정 DB 대조하여 로그인 처리 및 실패 시 에러 메시지 노출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 시 회원가입 폼으로 화면 전환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18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48" name="Google Shape;2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4927" y="261382"/>
            <a:ext cx="2842146" cy="653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9656" y="261382"/>
            <a:ext cx="2842146" cy="653042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/>
          <p:nvPr/>
        </p:nvSpPr>
        <p:spPr>
          <a:xfrm>
            <a:off x="1906050" y="472586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4674927" y="365197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4674926" y="413043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674925" y="444633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2668329" y="5532134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1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인증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회원가입 폼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SCR-REG-01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인증 &gt; 회원가입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1"/>
          <p:cNvGraphicFramePr/>
          <p:nvPr/>
        </p:nvGraphicFramePr>
        <p:xfrm>
          <a:off x="9153495" y="838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닉네임 중복 시 붉은색 테두리 및 느낌표 아이콘과 함께 "이미 사용 중인 닉네임이에요." 에러 문구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형식 오류 또는 중복 시 붉은색 테두리 및 느낌표 아이콘과 함께 "올바른 이메일 주소를 입력해주세요." 에러 문구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규칙 미달 및 확인란 불일치 시 붉은색 테두리 및 느낌표 아이콘과 함께 각각의 에러 문구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입력 오류가 있을 경우 가입 버튼 비활성화 및 하단에 "입력 정보를 확인해주세요." 안내 문구 노출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모든 항목 정상 입력 시 버튼 활성화 및 클릭 시 맞춤 설문으로 이동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1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62" name="Google Shape;2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4927" y="261382"/>
            <a:ext cx="2842146" cy="653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9656" y="261382"/>
            <a:ext cx="2842146" cy="65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"/>
          <p:cNvSpPr/>
          <p:nvPr/>
        </p:nvSpPr>
        <p:spPr>
          <a:xfrm>
            <a:off x="4674924" y="253054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"/>
          <p:cNvSpPr/>
          <p:nvPr/>
        </p:nvSpPr>
        <p:spPr>
          <a:xfrm>
            <a:off x="4674924" y="3230335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/>
          <p:nvPr/>
        </p:nvSpPr>
        <p:spPr>
          <a:xfrm>
            <a:off x="4674924" y="3981980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"/>
          <p:cNvSpPr/>
          <p:nvPr/>
        </p:nvSpPr>
        <p:spPr>
          <a:xfrm>
            <a:off x="4820075" y="567462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"/>
          <p:cNvSpPr/>
          <p:nvPr/>
        </p:nvSpPr>
        <p:spPr>
          <a:xfrm>
            <a:off x="1906050" y="5830927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36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인증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맞춤 설문 – 운동 목표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SCR-REG-02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인증 &gt;  맞춤 설문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4" name="Google Shape;274;p36"/>
          <p:cNvGraphicFramePr/>
          <p:nvPr/>
        </p:nvGraphicFramePr>
        <p:xfrm>
          <a:off x="9153495" y="838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프로그레스 바를 통해 현재 설문 진행 단계(1/2) 및 목표 선택 상태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단일 선택형 라디오 카드로 항목 터치 시 기존 선택 해제 및 새로운 목표 선택 적용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선택된 항목은 녹색 테두리와 내부 라디오 아이콘 활성화로 강조 표시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목표 선택 완료 시 다음 버튼이 활성화되며, 클릭 시 선택 데이터 저장 후 2단계 시간 선택 화면으로 이동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76" name="Google Shape;27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562" y="312575"/>
            <a:ext cx="2842145" cy="65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2865643" y="121211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2984279" y="427804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2984279" y="357778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2987603" y="606803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p37"/>
          <p:cNvGraphicFramePr/>
          <p:nvPr/>
        </p:nvGraphicFramePr>
        <p:xfrm>
          <a:off x="33527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인증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맞춤 설문 – 하루 운동 시간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SCR-REG-03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인증 &gt; 맞춤 설문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Google Shape;286;p37"/>
          <p:cNvGraphicFramePr/>
          <p:nvPr/>
        </p:nvGraphicFramePr>
        <p:xfrm>
          <a:off x="9153495" y="838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프로그레스 바를 통해 현재 설문 진행 단계(2/2) 완료 임박 상태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운동 시간 항목 중 하나를 터치하여 부담 없이 소화할 수 있는 시간 선택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선택된 시간 카드는 녹색 테두리와 활성화된 라디오 아이콘으로 시각적 구분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시간 선택 완료 시 하단 버튼이 설문 완료로 변경되며, 클릭 시 설정 데이터 저장 후 </a:t>
                      </a:r>
                      <a:r>
                        <a:rPr lang="ko-KR" sz="800"/>
                        <a:t>SCR-REG-04 </a:t>
                      </a:r>
                      <a:r>
                        <a:rPr lang="ko-KR" sz="800" u="none" cap="none" strike="noStrike"/>
                        <a:t>로 진입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37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562" y="312576"/>
            <a:ext cx="2842145" cy="65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/>
          <p:nvPr/>
        </p:nvSpPr>
        <p:spPr>
          <a:xfrm>
            <a:off x="2865643" y="121211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2926623" y="3664871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7"/>
          <p:cNvSpPr/>
          <p:nvPr/>
        </p:nvSpPr>
        <p:spPr>
          <a:xfrm>
            <a:off x="2926623" y="4279537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/>
          <p:nvPr/>
        </p:nvSpPr>
        <p:spPr>
          <a:xfrm>
            <a:off x="2987603" y="606803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" name="Google Shape;297;p38"/>
          <p:cNvGraphicFramePr/>
          <p:nvPr/>
        </p:nvGraphicFramePr>
        <p:xfrm>
          <a:off x="33527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인증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맞춤 설문 – 완료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SCR-REG-04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인증 &gt; 맞춤 설문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38"/>
          <p:cNvGraphicFramePr/>
          <p:nvPr/>
        </p:nvGraphicFramePr>
        <p:xfrm>
          <a:off x="9153495" y="838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캐릭터 일러스트와 완료 체크 아이콘을 배치하여 가입 및 설문 종료 상태 안내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사용자가 직전 단계에서 선택한 운동 목표와 하루 운동 시간을 요약 카드 형태로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하단 홈 시작하기 버튼 클릭 시 데이터가 최종 확정 및 저장되며 메인 대시보드 화면으로 이동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00" name="Google Shape;30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562" y="312576"/>
            <a:ext cx="2842144" cy="65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/>
          <p:nvPr/>
        </p:nvSpPr>
        <p:spPr>
          <a:xfrm>
            <a:off x="2955985" y="290236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2955985" y="402755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3096542" y="595732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39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홈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홈 대시보드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SCR-HOM-01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홈 &gt; 대시보드 메인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9" name="Google Shape;309;p39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사용자의 닉네임과 함께 누적 연속 달성 일수(Streak) 및 보유 FitPoint 실시간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오늘의 건강 요약 카드에서 걸음 수, 소비 칼로리, 운동 시간을 한눈에 확인하고 현재 페이스 상태 배지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현재 레벨과 캐릭터 일러스트를 배치하여 다음 보상까지 남은 조건과 예상 포인트를 안내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오늘의 맞춤 미션 목록을 표시하며, 진행 상태에 따라 [완료됨] 또는 [진행중] 상태 라벨 노출 및 완료율 실시간 반영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 고정 GNB를 통해 홈, 미션, 상점, 마이페이지 탭 간 자유로운 이동 지원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39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11" name="Google Shape;31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4717" y="681403"/>
            <a:ext cx="2842146" cy="616159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9"/>
          <p:cNvSpPr/>
          <p:nvPr/>
        </p:nvSpPr>
        <p:spPr>
          <a:xfrm>
            <a:off x="3064798" y="757905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3103825" y="144406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3077669" y="276910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3078854" y="387231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3103825" y="630055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40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미션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오늘의 맞춤 미션 목록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SCR-MIS-01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미션 &gt; 미션 목록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2" name="Google Shape;322;p40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GNB 영역에 연속 달성 일수(Streak)와 총 보유 FitPoint 실시간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오늘의 맞춤 미션 진행 현황 요약 및 전체 운동 미션 리스트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각 미션 카드별로 현재 달성 수치와 프로그레스 바(Width %) 및 획득 가능 포인트 표기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미션 카드 터치 시 해당 미션의 상세 정보 화면인 [SCR-MIS-02]로 진입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 고정 GNB를 통해 홈, 미션, 상점, 마이페이지 탭 간 자유로운 이동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40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 b="0" l="0" r="2769" t="6179"/>
          <a:stretch/>
        </p:blipFill>
        <p:spPr>
          <a:xfrm>
            <a:off x="3314978" y="677128"/>
            <a:ext cx="2781022" cy="616587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/>
          <p:nvPr/>
        </p:nvSpPr>
        <p:spPr>
          <a:xfrm>
            <a:off x="3133240" y="74122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4821610" y="235053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3175580" y="2815160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3175579" y="380238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3103825" y="630055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41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미션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미션 상세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SCR-MIS-02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미션 &gt; 미션 상세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5" name="Google Shape;335;p41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배너에서 선택한 미션의 전체 목표와 달성 시 지급되는 보상 포인트 안내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현재 진행 수치와 남은 목표값을 프로그레스 바와 함께 노출하고 하단에 [</a:t>
                      </a:r>
                      <a:r>
                        <a:rPr lang="ko-KR" sz="800"/>
                        <a:t>걷</a:t>
                      </a:r>
                      <a:r>
                        <a:rPr lang="ko-KR" sz="800" u="none" cap="none" strike="noStrike"/>
                        <a:t>기 이어서 하기] 버튼 제공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초록색 [완료됨] 상태 배지와 함께 포인트 획득 완료 문구 노출 및 하단 버튼이 [획득한 보상 확인]으로 변경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미션을 수행하는 방법과 가이드를 단계별(1, 2, 3) 번호 매기기 형태로 제공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 보상을 수령한 완료 상태일 경우, 중복 지급이 불가하다는 안내 문구 하단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6" name="Google Shape;336;p41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 rotWithShape="1">
          <a:blip r:embed="rId3">
            <a:alphaModFix/>
          </a:blip>
          <a:srcRect b="1754" l="0" r="0" t="1754"/>
          <a:stretch/>
        </p:blipFill>
        <p:spPr>
          <a:xfrm>
            <a:off x="1352227" y="316728"/>
            <a:ext cx="2860410" cy="634188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/>
          <p:nvPr/>
        </p:nvSpPr>
        <p:spPr>
          <a:xfrm>
            <a:off x="1267267" y="1809370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1267267" y="244622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1"/>
          <p:cNvSpPr/>
          <p:nvPr/>
        </p:nvSpPr>
        <p:spPr>
          <a:xfrm>
            <a:off x="4887422" y="244622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1267267" y="316990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8850" y="258799"/>
            <a:ext cx="2810514" cy="645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1"/>
          <p:cNvSpPr/>
          <p:nvPr/>
        </p:nvSpPr>
        <p:spPr>
          <a:xfrm>
            <a:off x="4858217" y="455015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42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미션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미션 완료 및 보상 획득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SCR-MOD-01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미션 &gt; 리워드 모달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9" name="Google Shape;349;p42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미션 완료 후 보상 수령 시 호출되는 팝업 모달로, 부모 화면 위에 딤(Dim) 처리 적용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상단에 환호하는 캐릭터 일러스트와 완료 체크 아이콘 및 성공 축하 문구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지급된 보상 포인트와 연산된 총 보유 잔액을 상세히 명시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하단 [홈으로 이동] 버튼 또는 팝업 바깥 영역 터치 시 모달 종료 및 대시보드로 복귀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51" name="Google Shape;351;p42"/>
          <p:cNvPicPr preferRelativeResize="0"/>
          <p:nvPr/>
        </p:nvPicPr>
        <p:blipFill rotWithShape="1">
          <a:blip r:embed="rId3">
            <a:alphaModFix/>
          </a:blip>
          <a:srcRect b="-1757" l="464" r="-464" t="5266"/>
          <a:stretch/>
        </p:blipFill>
        <p:spPr>
          <a:xfrm>
            <a:off x="3314978" y="677128"/>
            <a:ext cx="2781022" cy="616587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/>
          <p:nvPr/>
        </p:nvSpPr>
        <p:spPr>
          <a:xfrm>
            <a:off x="3133240" y="74122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2"/>
          <p:cNvSpPr/>
          <p:nvPr/>
        </p:nvSpPr>
        <p:spPr>
          <a:xfrm>
            <a:off x="3035266" y="1580685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2"/>
          <p:cNvSpPr/>
          <p:nvPr/>
        </p:nvSpPr>
        <p:spPr>
          <a:xfrm>
            <a:off x="3035267" y="3760064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2"/>
          <p:cNvSpPr/>
          <p:nvPr/>
        </p:nvSpPr>
        <p:spPr>
          <a:xfrm>
            <a:off x="3120227" y="5599291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43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상점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상점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SCR-SHP-01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상점 &gt; 상점 메인 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1" name="Google Shape;361;p43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GNB 영역에 현재 보유 중인 총 FitPoint 잔액 실시간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카테고리 탭([머리, 의상, 악세서리, 배경]) 터치 시 하단 아이템 그리드 목록 필터링 갱신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미보유 아이템 선택 시 상단에 가격(FP) 뱃지 노출 및 구매 가능 상태 진입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구매 버튼 터치 시 클라이언트단에서 보유 잔액과 아이템 가격 선행 비교 검증 수행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보유 잔액이 부족할 경우 구매가 차단되며, "N FitPoint 부족" 포맷의 예외 안내 문구 노출 및 미션 수행 리다이렉트 유도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6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구매 성공 시 포인트가 즉시 차감(정산)되고 해당 아이템은 [보유] 상태로 전환되며 중복 구매 방지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43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63" name="Google Shape;363;p43"/>
          <p:cNvPicPr preferRelativeResize="0"/>
          <p:nvPr/>
        </p:nvPicPr>
        <p:blipFill rotWithShape="1">
          <a:blip r:embed="rId3">
            <a:alphaModFix/>
          </a:blip>
          <a:srcRect b="1004" l="4914" r="4856" t="5374"/>
          <a:stretch/>
        </p:blipFill>
        <p:spPr>
          <a:xfrm>
            <a:off x="6166058" y="761525"/>
            <a:ext cx="2615478" cy="555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3"/>
          <p:cNvPicPr preferRelativeResize="0"/>
          <p:nvPr/>
        </p:nvPicPr>
        <p:blipFill rotWithShape="1">
          <a:blip r:embed="rId4">
            <a:alphaModFix/>
          </a:blip>
          <a:srcRect b="2028" l="7147" r="3297" t="5725"/>
          <a:stretch/>
        </p:blipFill>
        <p:spPr>
          <a:xfrm>
            <a:off x="596626" y="838132"/>
            <a:ext cx="2547909" cy="53739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3"/>
          <p:cNvSpPr txBox="1"/>
          <p:nvPr/>
        </p:nvSpPr>
        <p:spPr>
          <a:xfrm>
            <a:off x="898997" y="6313384"/>
            <a:ext cx="20356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아이템 선택 / 구매 전</a:t>
            </a:r>
            <a:endParaRPr/>
          </a:p>
        </p:txBody>
      </p:sp>
      <p:sp>
        <p:nvSpPr>
          <p:cNvPr id="366" name="Google Shape;366;p43"/>
          <p:cNvSpPr txBox="1"/>
          <p:nvPr/>
        </p:nvSpPr>
        <p:spPr>
          <a:xfrm>
            <a:off x="6893296" y="6313363"/>
            <a:ext cx="154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잔액 부족</a:t>
            </a: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426707" y="928794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41747" y="349029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3"/>
          <p:cNvSpPr/>
          <p:nvPr/>
        </p:nvSpPr>
        <p:spPr>
          <a:xfrm>
            <a:off x="596626" y="134447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3"/>
          <p:cNvSpPr/>
          <p:nvPr/>
        </p:nvSpPr>
        <p:spPr>
          <a:xfrm>
            <a:off x="1654667" y="1445938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6495534" y="1504779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43"/>
          <p:cNvPicPr preferRelativeResize="0"/>
          <p:nvPr/>
        </p:nvPicPr>
        <p:blipFill rotWithShape="1">
          <a:blip r:embed="rId5">
            <a:alphaModFix/>
          </a:blip>
          <a:srcRect b="1590" l="7717" r="2665" t="2545"/>
          <a:stretch/>
        </p:blipFill>
        <p:spPr>
          <a:xfrm>
            <a:off x="3375112" y="603925"/>
            <a:ext cx="2560369" cy="560816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3"/>
          <p:cNvSpPr txBox="1"/>
          <p:nvPr/>
        </p:nvSpPr>
        <p:spPr>
          <a:xfrm>
            <a:off x="4041198" y="6313384"/>
            <a:ext cx="20356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구매 완료</a:t>
            </a:r>
            <a:endParaRPr/>
          </a:p>
        </p:txBody>
      </p:sp>
      <p:sp>
        <p:nvSpPr>
          <p:cNvPr id="374" name="Google Shape;374;p43"/>
          <p:cNvSpPr/>
          <p:nvPr/>
        </p:nvSpPr>
        <p:spPr>
          <a:xfrm>
            <a:off x="3871279" y="544244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44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상점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상점 메인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SCR-SHP-01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상점 &gt; 상점 메인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0" name="Google Shape;380;p44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2D Canvas 뷰어에서 현재 착용 중인 파츠들의 Z-index 레이어 병합 결과 실시간 반영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보유 중인 미착용 아이템 선택 시 하단에 [보유] 뱃지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착용 중인 아이템은 초록색 테두리와 체크(✓) 뱃지로 강조 표시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착용 중인 아이템 재터치 시 장착이 해제되며 캐릭터가 기본 파츠 상태로 복구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동일 카테고리 내 중복 착용 불가 정책에 따라, 새로운 아이템 착용 시 기존 착용 중이던 아이템은 자동으로 [보유] 상태로 전환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6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하단 고정 GNB를 통해 홈, 미션, 상점, 마이페이지 탭 간 자유로운 이동 지원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44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82" name="Google Shape;382;p44"/>
          <p:cNvSpPr/>
          <p:nvPr/>
        </p:nvSpPr>
        <p:spPr>
          <a:xfrm>
            <a:off x="1076388" y="219684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4"/>
          <p:cNvSpPr/>
          <p:nvPr/>
        </p:nvSpPr>
        <p:spPr>
          <a:xfrm>
            <a:off x="1097912" y="5136116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44"/>
          <p:cNvPicPr preferRelativeResize="0"/>
          <p:nvPr/>
        </p:nvPicPr>
        <p:blipFill rotWithShape="1">
          <a:blip r:embed="rId3">
            <a:alphaModFix/>
          </a:blip>
          <a:srcRect b="1108" l="0" r="2977" t="6439"/>
          <a:stretch/>
        </p:blipFill>
        <p:spPr>
          <a:xfrm>
            <a:off x="5100388" y="704648"/>
            <a:ext cx="2863931" cy="558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4"/>
          <p:cNvPicPr preferRelativeResize="0"/>
          <p:nvPr/>
        </p:nvPicPr>
        <p:blipFill rotWithShape="1">
          <a:blip r:embed="rId4">
            <a:alphaModFix/>
          </a:blip>
          <a:srcRect b="1616" l="4249" r="3589" t="4947"/>
          <a:stretch/>
        </p:blipFill>
        <p:spPr>
          <a:xfrm>
            <a:off x="1267831" y="805094"/>
            <a:ext cx="2643382" cy="548748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4"/>
          <p:cNvSpPr txBox="1"/>
          <p:nvPr/>
        </p:nvSpPr>
        <p:spPr>
          <a:xfrm>
            <a:off x="2037581" y="6408996"/>
            <a:ext cx="20356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아이템 착용</a:t>
            </a:r>
            <a:endParaRPr/>
          </a:p>
        </p:txBody>
      </p:sp>
      <p:sp>
        <p:nvSpPr>
          <p:cNvPr id="387" name="Google Shape;387;p44"/>
          <p:cNvSpPr txBox="1"/>
          <p:nvPr/>
        </p:nvSpPr>
        <p:spPr>
          <a:xfrm>
            <a:off x="6096000" y="6408997"/>
            <a:ext cx="20356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착용 해제</a:t>
            </a:r>
            <a:endParaRPr/>
          </a:p>
        </p:txBody>
      </p:sp>
      <p:sp>
        <p:nvSpPr>
          <p:cNvPr id="388" name="Google Shape;388;p44"/>
          <p:cNvSpPr/>
          <p:nvPr/>
        </p:nvSpPr>
        <p:spPr>
          <a:xfrm>
            <a:off x="1057925" y="423182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4"/>
          <p:cNvSpPr/>
          <p:nvPr/>
        </p:nvSpPr>
        <p:spPr>
          <a:xfrm>
            <a:off x="5015428" y="2287060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4"/>
          <p:cNvSpPr/>
          <p:nvPr/>
        </p:nvSpPr>
        <p:spPr>
          <a:xfrm>
            <a:off x="4998341" y="5055965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4"/>
          <p:cNvSpPr/>
          <p:nvPr/>
        </p:nvSpPr>
        <p:spPr>
          <a:xfrm>
            <a:off x="4972949" y="5863683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45"/>
          <p:cNvGraphicFramePr/>
          <p:nvPr/>
        </p:nvGraphicFramePr>
        <p:xfrm>
          <a:off x="21051" y="14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2536750"/>
                <a:gridCol w="1079875"/>
                <a:gridCol w="5471350"/>
                <a:gridCol w="1079875"/>
                <a:gridCol w="1943775"/>
              </a:tblGrid>
              <a:tr h="243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/>
                        <a:t>마이페이지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마이페이지 메인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SCR-MYP-01</a:t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/>
                        <a:t>마이페이지&gt; 프로필 메인</a:t>
                      </a:r>
                      <a:endParaRPr sz="14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00" marB="4570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7" name="Google Shape;397;p45"/>
          <p:cNvGraphicFramePr/>
          <p:nvPr/>
        </p:nvGraphicFramePr>
        <p:xfrm>
          <a:off x="9153495" y="8592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{707EFB9D-16A4-40A0-89BA-9A8ADA471282}</a:tableStyleId>
              </a:tblPr>
              <a:tblGrid>
                <a:gridCol w="335200"/>
                <a:gridCol w="2630200"/>
              </a:tblGrid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상단 프로필 영역에 사용자 닉네임, 캐릭터 레벨, 연속 달성 일수 및 보유 FitPoint 실시간 노출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2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중앙 캔버스 뷰어를 통해 꾸미기 상점에서 최종 설정된 캐릭터 착용 상태 실시간 반영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3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하단 요약 카드를 통해 현재 보유 중인 포인트 잔액 및 파츠 미착용/보유 상태 확인</a:t>
                      </a:r>
                      <a:endParaRPr sz="1400" u="none" cap="none" strike="noStrike"/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4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프로필 [수정] 버튼 클릭 시 정보 관리 화면 진입 및 운동 알림 토글을 통한 OS 푸시 설정 제어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ko-KR" sz="800" u="none" cap="none" strike="noStrike">
                          <a:solidFill>
                            <a:srgbClr val="3F3F3F"/>
                          </a:solidFill>
                        </a:rPr>
                        <a:t>5</a:t>
                      </a:r>
                      <a:endParaRPr b="0" sz="8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/>
                        <a:t>하단 고정 GNB를 통해 홈, 미션, 상점, 마이페이지 탭 간 자유로운 이동 지원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25" marL="914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45"/>
          <p:cNvSpPr txBox="1"/>
          <p:nvPr>
            <p:ph idx="12" type="sldNum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99" name="Google Shape;399;p45"/>
          <p:cNvSpPr/>
          <p:nvPr/>
        </p:nvSpPr>
        <p:spPr>
          <a:xfrm>
            <a:off x="3127471" y="1330451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5"/>
          <p:cNvSpPr/>
          <p:nvPr/>
        </p:nvSpPr>
        <p:spPr>
          <a:xfrm>
            <a:off x="3134777" y="4298944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45"/>
          <p:cNvPicPr preferRelativeResize="0"/>
          <p:nvPr/>
        </p:nvPicPr>
        <p:blipFill rotWithShape="1">
          <a:blip r:embed="rId3">
            <a:alphaModFix/>
          </a:blip>
          <a:srcRect b="2002" l="-3613" r="-4332" t="6664"/>
          <a:stretch/>
        </p:blipFill>
        <p:spPr>
          <a:xfrm>
            <a:off x="3312003" y="718047"/>
            <a:ext cx="3085541" cy="599872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5"/>
          <p:cNvSpPr/>
          <p:nvPr/>
        </p:nvSpPr>
        <p:spPr>
          <a:xfrm>
            <a:off x="3127470" y="2168575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3127469" y="5287097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5"/>
          <p:cNvSpPr/>
          <p:nvPr/>
        </p:nvSpPr>
        <p:spPr>
          <a:xfrm>
            <a:off x="3127468" y="6269012"/>
            <a:ext cx="169919" cy="160301"/>
          </a:xfrm>
          <a:prstGeom prst="wedgeRoundRectCallout">
            <a:avLst>
              <a:gd fmla="val 80628" name="adj1"/>
              <a:gd fmla="val 84695" name="adj2"/>
              <a:gd fmla="val 166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ko-K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2021-02-25T00:35:12Z</dcterms:created>
  <dc:creator>SKCC</dc:creator>
</cp:coreProperties>
</file>